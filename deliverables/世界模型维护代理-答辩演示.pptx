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CD2B41-F141-CFC3-8B9E-C665A7787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E1C7160-C217-A3F5-A2E9-1D1A21ED6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3D929A-B240-2F87-C822-8A3B29ACF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AA1B-F4F2-40A5-8917-9BDED2122F9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9537CB-7E42-D8F8-CD8E-71B1E83AE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8C90F0-E857-AACE-0171-9B67D7810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0E41-7BC6-447E-ACD6-29BD5537A4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4952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B0AE7E-30B3-8F34-DF01-3FBE084D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AE3BD1-EC0A-870A-D2ED-4180FCB5F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0E5B67-0F25-2D74-572C-22265C535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AA1B-F4F2-40A5-8917-9BDED2122F9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6AFBD3-B040-5B2B-15E2-7B6C18E13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C10536-6117-3DE0-7D1D-9D3E7BF26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0E41-7BC6-447E-ACD6-29BD5537A4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760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2C746D-C889-2830-2CB1-B7ABB392A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856995-226B-80AD-513E-3F4ED666D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633A1B-B5AD-3668-BF08-67519A43D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AA1B-F4F2-40A5-8917-9BDED2122F9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795CA2-66F3-D7EE-7353-65E747723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53D4D3-0D53-D700-BFAD-06FA7A51B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0E41-7BC6-447E-ACD6-29BD5537A4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0143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46F08D-7FDA-BA45-282A-0B3C1CFE5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F35C9-384A-B32A-F7C5-D7D27BD531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2448AE-111C-113A-598F-CB99A520C1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7D0BDB-D153-4C1C-2EB4-AFA9782BC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AA1B-F4F2-40A5-8917-9BDED2122F9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E6FCD7-AA7A-4FA0-6F3D-1E51B1D63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46F935-3AB3-3624-2435-0D0A1945E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0E41-7BC6-447E-ACD6-29BD5537A4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4887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C4CBD0-2871-BF49-3F10-2B5964C11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3CBA38-41FC-C931-DF8B-6E9CED9E9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9217EDE-30E0-DD08-78EA-1CEFFDFEE7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88E9C04-7CF5-ED26-C6B6-6AD6E9A5B1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95E19FE-A3E3-2098-694E-D5A30F664E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5F6FE4-3A79-56CB-6716-84C2EB021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AA1B-F4F2-40A5-8917-9BDED2122F9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47EBBA1-91D6-1A5D-F7A0-C46859B0A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9397D0D-CACD-AE78-58DA-A551CF47C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0E41-7BC6-447E-ACD6-29BD5537A4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9263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0523D2-32BC-9482-10C5-1E15729D0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A95BE73-6D3A-0105-0822-24A3B2D10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AA1B-F4F2-40A5-8917-9BDED2122F9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23BCB75-BC57-592A-8368-F3AB84C88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3B78070-0281-B620-1BFA-E1EBEA068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0E41-7BC6-447E-ACD6-29BD5537A4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9779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C1D9B45-A37B-2EDD-642A-99EEE4675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AA1B-F4F2-40A5-8917-9BDED2122F9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EF85AC1-79F9-D8C5-DE91-8698CC395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3F513B-CB07-4929-528B-F61C6386F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0E41-7BC6-447E-ACD6-29BD5537A4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475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0A2A30-35BA-A477-727D-B5AE3D6E6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DCF70C-05B2-DE56-8283-0E678D6CD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EAFEB6-815C-CC51-41FD-FD572E666F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0E8B28F-D121-F251-D971-8D522D238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AA1B-F4F2-40A5-8917-9BDED2122F9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BBBE0E-8D0D-CA26-9017-EF4749CAB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9FD7B6-BC03-F7FA-2F99-74717B595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0E41-7BC6-447E-ACD6-29BD5537A4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049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47D9DC-DF2B-F0BC-0A3C-468FCC0A5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9983A78-BDD3-C364-3008-B3E66457C57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E329B7-FC3D-BEA9-83B8-1B5D6266E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5A1D24-F3C8-BBF4-BEAE-897C98012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AA1B-F4F2-40A5-8917-9BDED2122F9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45CB33-BDAE-5327-452A-1610FEF1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874616-5C30-3D25-705A-EECCB863A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0E41-7BC6-447E-ACD6-29BD5537A4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2698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65CA20-F664-9B07-F94C-6025A514E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E4958A5-3ECF-ED37-FFEC-DD7D48B378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37491E-8278-66D7-6CCF-668C91938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AA1B-F4F2-40A5-8917-9BDED2122F9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0768F3-F1B9-5EF2-3BBF-B78AA305F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A85DBD-4874-F8BB-1669-20C5A317C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0E41-7BC6-447E-ACD6-29BD5537A4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674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30E9EB8-6BE6-C600-835A-B74902C225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6DA4FB-8020-7E86-325A-1814758686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FF6F4B-0A75-23D2-EAD7-1753D81EE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AA1B-F4F2-40A5-8917-9BDED2122F9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E11E09-EC50-61DF-B5FC-4A4FB0D16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0A64BD-1BDC-7B60-EA74-5D0FA826B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0E41-7BC6-447E-ACD6-29BD5537A4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974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9F91BE2-82B5-3D8B-6A66-6CFCA63F8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E93DE3-7E63-7F22-388C-E16E52199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8C40B5-FC0F-1796-4C30-0692E4439F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16AA1B-F4F2-40A5-8917-9BDED2122F9A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D62882-551F-ACB7-B0FE-DB3314CCF9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DB2EC5-609A-3186-E3E2-295FE60876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80E41-7BC6-447E-ACD6-29BD5537A4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960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DDFED0A-4BF4-FF32-4EF5-CC4FE5B239E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A8082A2-B16C-18BF-1482-958F63702398}"/>
              </a:ext>
            </a:extLst>
          </p:cNvPr>
          <p:cNvSpPr txBox="1"/>
          <p:nvPr/>
        </p:nvSpPr>
        <p:spPr>
          <a:xfrm>
            <a:off x="660400" y="825500"/>
            <a:ext cx="1016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b="1">
                <a:solidFill>
                  <a:srgbClr val="EBF4FF"/>
                </a:solidFill>
                <a:latin typeface="Microsoft YaHei" panose="020B0503020204020204" pitchFamily="34" charset="-122"/>
              </a:rPr>
              <a:t>世界模型驱动的工业设备维护 </a:t>
            </a:r>
            <a:r>
              <a:rPr lang="en-US" altLang="zh-CN" sz="3200" b="1">
                <a:solidFill>
                  <a:srgbClr val="EBF4FF"/>
                </a:solidFill>
                <a:latin typeface="Microsoft YaHei" panose="020B0503020204020204" pitchFamily="34" charset="-122"/>
              </a:rPr>
              <a:t>Agent</a:t>
            </a:r>
            <a:endParaRPr lang="zh-CN" altLang="en-US" sz="3200" b="1">
              <a:solidFill>
                <a:srgbClr val="EBF4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08A8638-BB29-7321-6F84-94323D1A84DB}"/>
              </a:ext>
            </a:extLst>
          </p:cNvPr>
          <p:cNvSpPr txBox="1"/>
          <p:nvPr/>
        </p:nvSpPr>
        <p:spPr>
          <a:xfrm>
            <a:off x="698500" y="2159000"/>
            <a:ext cx="9652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>
                <a:solidFill>
                  <a:srgbClr val="91ACCB"/>
                </a:solidFill>
                <a:latin typeface="Microsoft YaHei" panose="020B0503020204020204" pitchFamily="34" charset="-122"/>
              </a:rPr>
              <a:t>从预测到审批：让关键动作可验证、可执行、可追溯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083441-BB51-D1C5-D358-55678B9EA779}"/>
              </a:ext>
            </a:extLst>
          </p:cNvPr>
          <p:cNvSpPr txBox="1"/>
          <p:nvPr/>
        </p:nvSpPr>
        <p:spPr>
          <a:xfrm>
            <a:off x="698500" y="2730500"/>
            <a:ext cx="825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200">
                <a:solidFill>
                  <a:srgbClr val="91ACCB"/>
                </a:solidFill>
                <a:latin typeface="Microsoft YaHei" panose="020B0503020204020204" pitchFamily="34" charset="-122"/>
              </a:rPr>
              <a:t>2026 </a:t>
            </a:r>
            <a:r>
              <a:rPr lang="zh-CN" altLang="en-US" sz="1200">
                <a:solidFill>
                  <a:srgbClr val="91ACCB"/>
                </a:solidFill>
                <a:latin typeface="Microsoft YaHei" panose="020B0503020204020204" pitchFamily="34" charset="-122"/>
              </a:rPr>
              <a:t>江苏省高校 </a:t>
            </a:r>
            <a:r>
              <a:rPr lang="en-US" altLang="zh-CN" sz="1200">
                <a:solidFill>
                  <a:srgbClr val="91ACCB"/>
                </a:solidFill>
                <a:latin typeface="Microsoft YaHei" panose="020B0503020204020204" pitchFamily="34" charset="-122"/>
              </a:rPr>
              <a:t>AI+</a:t>
            </a:r>
            <a:r>
              <a:rPr lang="zh-CN" altLang="en-US" sz="1200">
                <a:solidFill>
                  <a:srgbClr val="91ACCB"/>
                </a:solidFill>
                <a:latin typeface="Microsoft YaHei" panose="020B0503020204020204" pitchFamily="34" charset="-122"/>
              </a:rPr>
              <a:t>科学与工程创新实践黑客松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CEB2C5A-7FE5-660C-D959-55D0C47FC8A5}"/>
              </a:ext>
            </a:extLst>
          </p:cNvPr>
          <p:cNvSpPr txBox="1"/>
          <p:nvPr/>
        </p:nvSpPr>
        <p:spPr>
          <a:xfrm>
            <a:off x="698500" y="3124200"/>
            <a:ext cx="609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 b="1">
                <a:solidFill>
                  <a:srgbClr val="18C4E8"/>
                </a:solidFill>
                <a:latin typeface="Microsoft YaHei" panose="020B0503020204020204" pitchFamily="34" charset="-122"/>
              </a:rPr>
              <a:t>本科生组 </a:t>
            </a:r>
            <a:r>
              <a:rPr lang="en-US" altLang="zh-CN" sz="1300" b="1">
                <a:solidFill>
                  <a:srgbClr val="18C4E8"/>
                </a:solidFill>
                <a:latin typeface="Microsoft YaHei" panose="020B0503020204020204" pitchFamily="34" charset="-122"/>
              </a:rPr>
              <a:t>U068</a:t>
            </a:r>
            <a:r>
              <a:rPr lang="zh-CN" altLang="en-US" sz="1300" b="1">
                <a:solidFill>
                  <a:srgbClr val="18C4E8"/>
                </a:solidFill>
                <a:latin typeface="Microsoft YaHei" panose="020B0503020204020204" pitchFamily="34" charset="-122"/>
              </a:rPr>
              <a:t>｜翼智</a:t>
            </a:r>
            <a:r>
              <a:rPr lang="en-US" altLang="zh-CN" sz="1300" b="1">
                <a:solidFill>
                  <a:srgbClr val="18C4E8"/>
                </a:solidFill>
                <a:latin typeface="Microsoft YaHei" panose="020B0503020204020204" pitchFamily="34" charset="-122"/>
              </a:rPr>
              <a:t>AeroAgent</a:t>
            </a:r>
            <a:endParaRPr lang="zh-CN" altLang="en-US" sz="1300" b="1">
              <a:solidFill>
                <a:srgbClr val="18C4E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A430AF3-562E-FBE6-820B-DF0C9A7C3576}"/>
              </a:ext>
            </a:extLst>
          </p:cNvPr>
          <p:cNvSpPr/>
          <p:nvPr/>
        </p:nvSpPr>
        <p:spPr>
          <a:xfrm>
            <a:off x="698500" y="4064000"/>
            <a:ext cx="2794000" cy="7874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18C4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8C04948-D45F-78DF-7AEE-613DCD2877EE}"/>
              </a:ext>
            </a:extLst>
          </p:cNvPr>
          <p:cNvSpPr txBox="1"/>
          <p:nvPr/>
        </p:nvSpPr>
        <p:spPr>
          <a:xfrm>
            <a:off x="825500" y="4216400"/>
            <a:ext cx="2540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500" b="1">
                <a:solidFill>
                  <a:srgbClr val="18C4E8"/>
                </a:solidFill>
                <a:latin typeface="Microsoft YaHei" panose="020B0503020204020204" pitchFamily="34" charset="-122"/>
              </a:rPr>
              <a:t>12/12</a:t>
            </a:r>
            <a:r>
              <a:rPr lang="zh-CN" altLang="en-US" sz="1500" b="1">
                <a:solidFill>
                  <a:srgbClr val="18C4E8"/>
                </a:solidFill>
                <a:latin typeface="Microsoft YaHei" panose="020B0503020204020204" pitchFamily="34" charset="-122"/>
              </a:rPr>
              <a:t>｜真实工单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19913A1-E0FA-2A72-5AC9-3D1DBBA68B07}"/>
              </a:ext>
            </a:extLst>
          </p:cNvPr>
          <p:cNvSpPr/>
          <p:nvPr/>
        </p:nvSpPr>
        <p:spPr>
          <a:xfrm>
            <a:off x="3810000" y="4064000"/>
            <a:ext cx="2794000" cy="7874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14B9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4865D7E-1E00-064E-7023-6BA4C6E9DBEA}"/>
              </a:ext>
            </a:extLst>
          </p:cNvPr>
          <p:cNvSpPr txBox="1"/>
          <p:nvPr/>
        </p:nvSpPr>
        <p:spPr>
          <a:xfrm>
            <a:off x="3937000" y="4216400"/>
            <a:ext cx="2540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500" b="1">
                <a:solidFill>
                  <a:srgbClr val="14B978"/>
                </a:solidFill>
                <a:latin typeface="Microsoft YaHei" panose="020B0503020204020204" pitchFamily="34" charset="-122"/>
              </a:rPr>
              <a:t>0</a:t>
            </a:r>
            <a:r>
              <a:rPr lang="zh-CN" altLang="en-US" sz="1500" b="1">
                <a:solidFill>
                  <a:srgbClr val="14B978"/>
                </a:solidFill>
                <a:latin typeface="Microsoft YaHei" panose="020B0503020204020204" pitchFamily="34" charset="-122"/>
              </a:rPr>
              <a:t>｜实际故障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8525EC8-E12E-1D04-0367-016249699482}"/>
              </a:ext>
            </a:extLst>
          </p:cNvPr>
          <p:cNvSpPr/>
          <p:nvPr/>
        </p:nvSpPr>
        <p:spPr>
          <a:xfrm>
            <a:off x="6921500" y="4064000"/>
            <a:ext cx="2794000" cy="7874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357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E270F30-6219-F948-B0D3-99FCE312E570}"/>
              </a:ext>
            </a:extLst>
          </p:cNvPr>
          <p:cNvSpPr txBox="1"/>
          <p:nvPr/>
        </p:nvSpPr>
        <p:spPr>
          <a:xfrm>
            <a:off x="7048500" y="4216400"/>
            <a:ext cx="2540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500" b="1">
                <a:solidFill>
                  <a:srgbClr val="3579F6"/>
                </a:solidFill>
                <a:latin typeface="Microsoft YaHei" panose="020B0503020204020204" pitchFamily="34" charset="-122"/>
              </a:rPr>
              <a:t>41</a:t>
            </a:r>
            <a:r>
              <a:rPr lang="zh-CN" altLang="en-US" sz="1500" b="1">
                <a:solidFill>
                  <a:srgbClr val="3579F6"/>
                </a:solidFill>
                <a:latin typeface="Microsoft YaHei" panose="020B0503020204020204" pitchFamily="34" charset="-122"/>
              </a:rPr>
              <a:t>｜</a:t>
            </a:r>
            <a:r>
              <a:rPr lang="en-US" altLang="zh-CN" sz="1500" b="1">
                <a:solidFill>
                  <a:srgbClr val="3579F6"/>
                </a:solidFill>
                <a:latin typeface="Microsoft YaHei" panose="020B0503020204020204" pitchFamily="34" charset="-122"/>
              </a:rPr>
              <a:t>Trace </a:t>
            </a:r>
            <a:r>
              <a:rPr lang="zh-CN" altLang="en-US" sz="1500" b="1">
                <a:solidFill>
                  <a:srgbClr val="3579F6"/>
                </a:solidFill>
                <a:latin typeface="Microsoft YaHei" panose="020B0503020204020204" pitchFamily="34" charset="-122"/>
              </a:rPr>
              <a:t>事件</a:t>
            </a:r>
          </a:p>
        </p:txBody>
      </p:sp>
    </p:spTree>
    <p:extLst>
      <p:ext uri="{BB962C8B-B14F-4D97-AF65-F5344CB8AC3E}">
        <p14:creationId xmlns:p14="http://schemas.microsoft.com/office/powerpoint/2010/main" val="2697798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utoUpdateAnimBg="0"/>
      <p:bldP spid="7" grpId="0" autoUpdateAnimBg="0"/>
      <p:bldP spid="8" grpId="0" animBg="1" autoUpdateAnimBg="0"/>
      <p:bldP spid="9" grpId="0" autoUpdateAnimBg="0"/>
      <p:bldP spid="10" grpId="0" animBg="1" autoUpdateAnimBg="0"/>
      <p:bldP spid="11" grpId="0" autoUpdateAnimBg="0"/>
      <p:bldP spid="12" grpId="0" animBg="1" autoUpdateAnimBg="0"/>
      <p:bldP spid="13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FEE2852-32AC-8163-FC7A-4B0BBD45FEE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57D457B-9C75-6421-8492-86C932211C9C}"/>
              </a:ext>
            </a:extLst>
          </p:cNvPr>
          <p:cNvSpPr txBox="1"/>
          <p:nvPr/>
        </p:nvSpPr>
        <p:spPr>
          <a:xfrm>
            <a:off x="660400" y="533400"/>
            <a:ext cx="9906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600" b="1">
                <a:solidFill>
                  <a:srgbClr val="EBF4FF"/>
                </a:solidFill>
                <a:latin typeface="Microsoft YaHei" panose="020B0503020204020204" pitchFamily="34" charset="-122"/>
              </a:rPr>
              <a:t>维护不是预测寿命，而是决策闭环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F01ECBB-BB29-3316-6FBC-11EC41706814}"/>
              </a:ext>
            </a:extLst>
          </p:cNvPr>
          <p:cNvSpPr txBox="1"/>
          <p:nvPr/>
        </p:nvSpPr>
        <p:spPr>
          <a:xfrm>
            <a:off x="685800" y="1143000"/>
            <a:ext cx="762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91ACCB"/>
                </a:solidFill>
                <a:latin typeface="Microsoft YaHei" panose="020B0503020204020204" pitchFamily="34" charset="-122"/>
              </a:rPr>
              <a:t>三个冲突目标必须同时满足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331B524-DF5F-8DD3-108E-2501BA600029}"/>
              </a:ext>
            </a:extLst>
          </p:cNvPr>
          <p:cNvSpPr/>
          <p:nvPr/>
        </p:nvSpPr>
        <p:spPr>
          <a:xfrm>
            <a:off x="660400" y="1905000"/>
            <a:ext cx="3429000" cy="24130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F09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972BF02-2A15-0F42-BAE9-B86669D4C84C}"/>
              </a:ext>
            </a:extLst>
          </p:cNvPr>
          <p:cNvSpPr txBox="1"/>
          <p:nvPr/>
        </p:nvSpPr>
        <p:spPr>
          <a:xfrm>
            <a:off x="889000" y="2159000"/>
            <a:ext cx="29845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600" b="1">
                <a:solidFill>
                  <a:srgbClr val="F09C32"/>
                </a:solidFill>
                <a:latin typeface="Microsoft YaHei" panose="020B0503020204020204" pitchFamily="34" charset="-122"/>
              </a:rPr>
              <a:t>不能过度维护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5DEA2BB-BC6E-CCA1-9E0A-21939E76F71E}"/>
              </a:ext>
            </a:extLst>
          </p:cNvPr>
          <p:cNvSpPr txBox="1"/>
          <p:nvPr/>
        </p:nvSpPr>
        <p:spPr>
          <a:xfrm>
            <a:off x="889000" y="2768600"/>
            <a:ext cx="29845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EBF4FF"/>
                </a:solidFill>
                <a:latin typeface="Microsoft YaHei" panose="020B0503020204020204" pitchFamily="34" charset="-122"/>
              </a:rPr>
              <a:t>停机和维护成本会吞噬利润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2BBF1FD-A6E2-53DB-C0A1-D8D3E768F65A}"/>
              </a:ext>
            </a:extLst>
          </p:cNvPr>
          <p:cNvSpPr/>
          <p:nvPr/>
        </p:nvSpPr>
        <p:spPr>
          <a:xfrm>
            <a:off x="4368800" y="1905000"/>
            <a:ext cx="3429000" cy="24130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EC52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B4E072B-EE4E-0271-083C-D612DB4C9ADF}"/>
              </a:ext>
            </a:extLst>
          </p:cNvPr>
          <p:cNvSpPr txBox="1"/>
          <p:nvPr/>
        </p:nvSpPr>
        <p:spPr>
          <a:xfrm>
            <a:off x="4597400" y="2159000"/>
            <a:ext cx="29845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600" b="1">
                <a:solidFill>
                  <a:srgbClr val="EC525B"/>
                </a:solidFill>
                <a:latin typeface="Microsoft YaHei" panose="020B0503020204020204" pitchFamily="34" charset="-122"/>
              </a:rPr>
              <a:t>不能等待故障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B976142-DD23-9565-75E1-3FFA3ED7FC76}"/>
              </a:ext>
            </a:extLst>
          </p:cNvPr>
          <p:cNvSpPr txBox="1"/>
          <p:nvPr/>
        </p:nvSpPr>
        <p:spPr>
          <a:xfrm>
            <a:off x="4597400" y="2768600"/>
            <a:ext cx="29845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EBF4FF"/>
                </a:solidFill>
                <a:latin typeface="Microsoft YaHei" panose="020B0503020204020204" pitchFamily="34" charset="-122"/>
              </a:rPr>
              <a:t>故障、停机和需求损失不可接受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1DD39E3-A939-A1B2-8B32-88F0FD6D055F}"/>
              </a:ext>
            </a:extLst>
          </p:cNvPr>
          <p:cNvSpPr/>
          <p:nvPr/>
        </p:nvSpPr>
        <p:spPr>
          <a:xfrm>
            <a:off x="8077200" y="1905000"/>
            <a:ext cx="3429000" cy="24130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18C4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7543E17-E2A0-6F41-BD38-5ECF171A4BB7}"/>
              </a:ext>
            </a:extLst>
          </p:cNvPr>
          <p:cNvSpPr txBox="1"/>
          <p:nvPr/>
        </p:nvSpPr>
        <p:spPr>
          <a:xfrm>
            <a:off x="8305800" y="2159000"/>
            <a:ext cx="29845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600" b="1">
                <a:solidFill>
                  <a:srgbClr val="18C4E8"/>
                </a:solidFill>
                <a:latin typeface="Microsoft YaHei" panose="020B0503020204020204" pitchFamily="34" charset="-122"/>
              </a:rPr>
              <a:t>不能擅自控制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365C928-BEAF-B4DA-C2D4-C3AC29FAC6AE}"/>
              </a:ext>
            </a:extLst>
          </p:cNvPr>
          <p:cNvSpPr txBox="1"/>
          <p:nvPr/>
        </p:nvSpPr>
        <p:spPr>
          <a:xfrm>
            <a:off x="8305800" y="2768600"/>
            <a:ext cx="29845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EBF4FF"/>
                </a:solidFill>
                <a:latin typeface="Microsoft YaHei" panose="020B0503020204020204" pitchFamily="34" charset="-122"/>
              </a:rPr>
              <a:t>关键动作必须经过验证和人工审批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3FE15EC-C46F-2667-92CA-A2C9ECBCEA3E}"/>
              </a:ext>
            </a:extLst>
          </p:cNvPr>
          <p:cNvSpPr txBox="1"/>
          <p:nvPr/>
        </p:nvSpPr>
        <p:spPr>
          <a:xfrm>
            <a:off x="660400" y="49530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14B978"/>
                </a:solidFill>
                <a:latin typeface="Microsoft YaHei" panose="020B0503020204020204" pitchFamily="34" charset="-122"/>
              </a:rPr>
              <a:t>我们的答案：世界模型判断 → 数字孪生验证 → </a:t>
            </a:r>
            <a:r>
              <a:rPr lang="en-US" altLang="zh-CN" b="1">
                <a:solidFill>
                  <a:srgbClr val="14B978"/>
                </a:solidFill>
                <a:latin typeface="Microsoft YaHei" panose="020B0503020204020204" pitchFamily="34" charset="-122"/>
              </a:rPr>
              <a:t>AGH </a:t>
            </a:r>
            <a:r>
              <a:rPr lang="zh-CN" altLang="en-US" b="1">
                <a:solidFill>
                  <a:srgbClr val="14B978"/>
                </a:solidFill>
                <a:latin typeface="Microsoft YaHei" panose="020B0503020204020204" pitchFamily="34" charset="-122"/>
              </a:rPr>
              <a:t>审批 → 哈希链 </a:t>
            </a:r>
            <a:r>
              <a:rPr lang="en-US" altLang="zh-CN" b="1">
                <a:solidFill>
                  <a:srgbClr val="14B978"/>
                </a:solidFill>
                <a:latin typeface="Microsoft YaHei" panose="020B0503020204020204" pitchFamily="34" charset="-122"/>
              </a:rPr>
              <a:t>Trace</a:t>
            </a:r>
            <a:endParaRPr lang="zh-CN" altLang="en-US" b="1">
              <a:solidFill>
                <a:srgbClr val="14B978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2784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circle/>
      </p:transition>
    </mc:Choice>
    <mc:Fallback xmlns=""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nimBg="1" autoUpdateAnimBg="0"/>
      <p:bldP spid="8" grpId="0" autoUpdateAnimBg="0"/>
      <p:bldP spid="9" grpId="0" animBg="1" autoUpdateAnimBg="0"/>
      <p:bldP spid="11" grpId="0" autoUpdateAnimBg="0"/>
      <p:bldP spid="12" grpId="0" animBg="1" autoUpdateAnimBg="0"/>
      <p:bldP spid="14" grpId="0" autoUpdateAnimBg="0"/>
      <p:bldP spid="15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7B74683-4739-741B-B649-0FFE0FA777B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F417004-323B-42C7-53BC-64F42E84FAF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530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circle/>
      </p:transition>
    </mc:Choice>
    <mc:Fallback xmlns=""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49F2DC7-DCD4-2194-FB2E-74964694D9C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8744BBF-5402-DEC1-7FD6-B7F1571514DE}"/>
              </a:ext>
            </a:extLst>
          </p:cNvPr>
          <p:cNvSpPr txBox="1"/>
          <p:nvPr/>
        </p:nvSpPr>
        <p:spPr>
          <a:xfrm>
            <a:off x="660400" y="508000"/>
            <a:ext cx="8890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600" b="1">
                <a:solidFill>
                  <a:srgbClr val="EBF4FF"/>
                </a:solidFill>
                <a:latin typeface="Microsoft YaHei" panose="020B0503020204020204" pitchFamily="34" charset="-122"/>
              </a:rPr>
              <a:t>AGH </a:t>
            </a:r>
            <a:r>
              <a:rPr lang="zh-CN" altLang="en-US" sz="2600" b="1">
                <a:solidFill>
                  <a:srgbClr val="EBF4FF"/>
                </a:solidFill>
                <a:latin typeface="Microsoft YaHei" panose="020B0503020204020204" pitchFamily="34" charset="-122"/>
              </a:rPr>
              <a:t>工具链：</a:t>
            </a:r>
            <a:r>
              <a:rPr lang="en-US" altLang="zh-CN" sz="2600" b="1">
                <a:solidFill>
                  <a:srgbClr val="EBF4FF"/>
                </a:solidFill>
                <a:latin typeface="Microsoft YaHei" panose="020B0503020204020204" pitchFamily="34" charset="-122"/>
              </a:rPr>
              <a:t>8 </a:t>
            </a:r>
            <a:r>
              <a:rPr lang="zh-CN" altLang="en-US" sz="2600" b="1">
                <a:solidFill>
                  <a:srgbClr val="EBF4FF"/>
                </a:solidFill>
                <a:latin typeface="Microsoft YaHei" panose="020B0503020204020204" pitchFamily="34" charset="-122"/>
              </a:rPr>
              <a:t>个 </a:t>
            </a:r>
            <a:r>
              <a:rPr lang="en-US" altLang="zh-CN" sz="2600" b="1">
                <a:solidFill>
                  <a:srgbClr val="EBF4FF"/>
                </a:solidFill>
                <a:latin typeface="Microsoft YaHei" panose="020B0503020204020204" pitchFamily="34" charset="-122"/>
              </a:rPr>
              <a:t>MCP </a:t>
            </a:r>
            <a:r>
              <a:rPr lang="zh-CN" altLang="en-US" sz="2600" b="1">
                <a:solidFill>
                  <a:srgbClr val="EBF4FF"/>
                </a:solidFill>
                <a:latin typeface="Microsoft YaHei" panose="020B0503020204020204" pitchFamily="34" charset="-122"/>
              </a:rPr>
              <a:t>工具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E6FE4F5-BBE7-4E27-2CAA-98B7041EEAF1}"/>
              </a:ext>
            </a:extLst>
          </p:cNvPr>
          <p:cNvSpPr txBox="1"/>
          <p:nvPr/>
        </p:nvSpPr>
        <p:spPr>
          <a:xfrm>
            <a:off x="685800" y="1117600"/>
            <a:ext cx="889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91ACCB"/>
                </a:solidFill>
                <a:latin typeface="Microsoft YaHei" panose="020B0503020204020204" pitchFamily="34" charset="-122"/>
              </a:rPr>
              <a:t>关键动作必须高保真验证 </a:t>
            </a:r>
            <a:r>
              <a:rPr lang="en-US" altLang="zh-CN" sz="1300">
                <a:solidFill>
                  <a:srgbClr val="91ACCB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300">
                <a:solidFill>
                  <a:srgbClr val="91ACCB"/>
                </a:solidFill>
                <a:latin typeface="Microsoft YaHei" panose="020B0503020204020204" pitchFamily="34" charset="-122"/>
              </a:rPr>
              <a:t>明确人工审批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E29D6FB-C1C1-4E99-67A5-6A707F146A5F}"/>
              </a:ext>
            </a:extLst>
          </p:cNvPr>
          <p:cNvSpPr/>
          <p:nvPr/>
        </p:nvSpPr>
        <p:spPr>
          <a:xfrm>
            <a:off x="660400" y="1841500"/>
            <a:ext cx="2540000" cy="12192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18C4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3927AEC-08AF-8B5E-59BB-358681947FD0}"/>
              </a:ext>
            </a:extLst>
          </p:cNvPr>
          <p:cNvSpPr txBox="1"/>
          <p:nvPr/>
        </p:nvSpPr>
        <p:spPr>
          <a:xfrm>
            <a:off x="812800" y="2070100"/>
            <a:ext cx="22352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plant_read_state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｜读取状态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9284667-A034-BEC0-BE08-4D4E3F5E8A9E}"/>
              </a:ext>
            </a:extLst>
          </p:cNvPr>
          <p:cNvSpPr/>
          <p:nvPr/>
        </p:nvSpPr>
        <p:spPr>
          <a:xfrm>
            <a:off x="3479800" y="1841500"/>
            <a:ext cx="2540000" cy="12192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18C4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E6AD064-DADC-9E9A-4382-CA977F122832}"/>
              </a:ext>
            </a:extLst>
          </p:cNvPr>
          <p:cNvSpPr txBox="1"/>
          <p:nvPr/>
        </p:nvSpPr>
        <p:spPr>
          <a:xfrm>
            <a:off x="3632200" y="2070100"/>
            <a:ext cx="22352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world_model_plan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｜</a:t>
            </a:r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12h 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计划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206672D-07E8-3A73-FF2E-22FA4510C066}"/>
              </a:ext>
            </a:extLst>
          </p:cNvPr>
          <p:cNvSpPr/>
          <p:nvPr/>
        </p:nvSpPr>
        <p:spPr>
          <a:xfrm>
            <a:off x="6299200" y="1841500"/>
            <a:ext cx="2540000" cy="12192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18C4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9664A7E-8293-FE37-494C-EA6085F1AE24}"/>
              </a:ext>
            </a:extLst>
          </p:cNvPr>
          <p:cNvSpPr txBox="1"/>
          <p:nvPr/>
        </p:nvSpPr>
        <p:spPr>
          <a:xfrm>
            <a:off x="6451600" y="2070100"/>
            <a:ext cx="22352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highfidelity_verify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｜</a:t>
            </a:r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32 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场景验证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EA66D90-37B5-1A08-D974-EE854F77B00C}"/>
              </a:ext>
            </a:extLst>
          </p:cNvPr>
          <p:cNvSpPr/>
          <p:nvPr/>
        </p:nvSpPr>
        <p:spPr>
          <a:xfrm>
            <a:off x="9118600" y="1841500"/>
            <a:ext cx="2540000" cy="12192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357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4CCC92A-6463-C2AB-D3E4-B1BD4BAC2B2F}"/>
              </a:ext>
            </a:extLst>
          </p:cNvPr>
          <p:cNvSpPr txBox="1"/>
          <p:nvPr/>
        </p:nvSpPr>
        <p:spPr>
          <a:xfrm>
            <a:off x="9271000" y="2070100"/>
            <a:ext cx="22352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request_maintenance_action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｜审批门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E162628-82EC-B215-2BDA-EF15CFB568A0}"/>
              </a:ext>
            </a:extLst>
          </p:cNvPr>
          <p:cNvSpPr/>
          <p:nvPr/>
        </p:nvSpPr>
        <p:spPr>
          <a:xfrm>
            <a:off x="660400" y="3365500"/>
            <a:ext cx="2540000" cy="12192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14B9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690E9D4-FA80-055F-3DF3-0C3CC1DDDCC8}"/>
              </a:ext>
            </a:extLst>
          </p:cNvPr>
          <p:cNvSpPr txBox="1"/>
          <p:nvPr/>
        </p:nvSpPr>
        <p:spPr>
          <a:xfrm>
            <a:off x="812800" y="3594100"/>
            <a:ext cx="22352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execute_verified_plan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｜顺序执行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31EC56D-7FD5-4654-C9A1-D0E5B332A211}"/>
              </a:ext>
            </a:extLst>
          </p:cNvPr>
          <p:cNvSpPr/>
          <p:nvPr/>
        </p:nvSpPr>
        <p:spPr>
          <a:xfrm>
            <a:off x="3479800" y="3365500"/>
            <a:ext cx="2540000" cy="12192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357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03F2506-DCEB-C0AA-E46C-8B684F987F1A}"/>
              </a:ext>
            </a:extLst>
          </p:cNvPr>
          <p:cNvSpPr txBox="1"/>
          <p:nvPr/>
        </p:nvSpPr>
        <p:spPr>
          <a:xfrm>
            <a:off x="3632200" y="3594100"/>
            <a:ext cx="22352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plan_status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｜完成审计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39311FF-8E3B-7F53-6389-DE1EE5F99D9E}"/>
              </a:ext>
            </a:extLst>
          </p:cNvPr>
          <p:cNvSpPr/>
          <p:nvPr/>
        </p:nvSpPr>
        <p:spPr>
          <a:xfrm>
            <a:off x="6299200" y="3365500"/>
            <a:ext cx="2540000" cy="12192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357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C4F3C10-22BE-4D22-9FB0-D2D8D6596CA8}"/>
              </a:ext>
            </a:extLst>
          </p:cNvPr>
          <p:cNvSpPr txBox="1"/>
          <p:nvPr/>
        </p:nvSpPr>
        <p:spPr>
          <a:xfrm>
            <a:off x="6451600" y="3594100"/>
            <a:ext cx="22352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calibration_status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｜在线校准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040AD33D-0BEE-79DB-0E95-F7209F11DBD4}"/>
              </a:ext>
            </a:extLst>
          </p:cNvPr>
          <p:cNvSpPr/>
          <p:nvPr/>
        </p:nvSpPr>
        <p:spPr>
          <a:xfrm>
            <a:off x="9118600" y="3365500"/>
            <a:ext cx="2540000" cy="12192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357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0853A3C-C04A-51E6-93A9-32645FC363B2}"/>
              </a:ext>
            </a:extLst>
          </p:cNvPr>
          <p:cNvSpPr txBox="1"/>
          <p:nvPr/>
        </p:nvSpPr>
        <p:spPr>
          <a:xfrm>
            <a:off x="9271000" y="3594100"/>
            <a:ext cx="22352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trace_export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｜哈希链校验</a:t>
            </a:r>
          </a:p>
        </p:txBody>
      </p:sp>
    </p:spTree>
    <p:extLst>
      <p:ext uri="{BB962C8B-B14F-4D97-AF65-F5344CB8AC3E}">
        <p14:creationId xmlns:p14="http://schemas.microsoft.com/office/powerpoint/2010/main" val="670352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circle/>
      </p:transition>
    </mc:Choice>
    <mc:Fallback xmlns=""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nimBg="1" autoUpdateAnimBg="0"/>
      <p:bldP spid="7" grpId="0" autoUpdateAnimBg="0"/>
      <p:bldP spid="8" grpId="0" animBg="1" autoUpdateAnimBg="0"/>
      <p:bldP spid="9" grpId="0" autoUpdateAnimBg="0"/>
      <p:bldP spid="10" grpId="0" animBg="1" autoUpdateAnimBg="0"/>
      <p:bldP spid="11" grpId="0" autoUpdateAnimBg="0"/>
      <p:bldP spid="12" grpId="0" animBg="1" autoUpdateAnimBg="0"/>
      <p:bldP spid="13" grpId="0" autoUpdateAnimBg="0"/>
      <p:bldP spid="14" grpId="0" animBg="1" autoUpdateAnimBg="0"/>
      <p:bldP spid="15" grpId="0" autoUpdateAnimBg="0"/>
      <p:bldP spid="16" grpId="0" animBg="1" autoUpdateAnimBg="0"/>
      <p:bldP spid="17" grpId="0" autoUpdateAnimBg="0"/>
      <p:bldP spid="18" grpId="0" animBg="1" autoUpdateAnimBg="0"/>
      <p:bldP spid="19" grpId="0" autoUpdateAnimBg="0"/>
      <p:bldP spid="20" grpId="0" animBg="1" autoUpdateAnimBg="0"/>
      <p:bldP spid="21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0D91E29-58B3-C824-2107-081572D2351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4618770-D6F7-CA65-8ADF-154B3C4A758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160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circle/>
      </p:transition>
    </mc:Choice>
    <mc:Fallback xmlns=""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BBC1DD2-1133-D3F9-2B20-A15D5AC695C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56BC339-286E-09D0-93D7-F84E17B0718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540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circle/>
      </p:transition>
    </mc:Choice>
    <mc:Fallback xmlns=""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F803663-7711-5478-C77A-0AA560A1721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9CCCC96-17C4-E3C6-BFEB-5F604EB1BE87}"/>
              </a:ext>
            </a:extLst>
          </p:cNvPr>
          <p:cNvSpPr txBox="1"/>
          <p:nvPr/>
        </p:nvSpPr>
        <p:spPr>
          <a:xfrm>
            <a:off x="660400" y="508000"/>
            <a:ext cx="9398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600" b="1">
                <a:solidFill>
                  <a:srgbClr val="EBF4FF"/>
                </a:solidFill>
                <a:latin typeface="Microsoft YaHei" panose="020B0503020204020204" pitchFamily="34" charset="-122"/>
              </a:rPr>
              <a:t>验证严谨性：失败也进入证据链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75868F1-3633-650C-741D-7CFFA10A1AE4}"/>
              </a:ext>
            </a:extLst>
          </p:cNvPr>
          <p:cNvSpPr txBox="1"/>
          <p:nvPr/>
        </p:nvSpPr>
        <p:spPr>
          <a:xfrm>
            <a:off x="685800" y="1117600"/>
            <a:ext cx="889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91ACCB"/>
                </a:solidFill>
                <a:latin typeface="Microsoft YaHei" panose="020B0503020204020204" pitchFamily="34" charset="-122"/>
              </a:rPr>
              <a:t>不会删除不利结果，反而用它证明安全机制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7B7F33B-5723-6029-8AB1-A73A6DA29334}"/>
              </a:ext>
            </a:extLst>
          </p:cNvPr>
          <p:cNvSpPr/>
          <p:nvPr/>
        </p:nvSpPr>
        <p:spPr>
          <a:xfrm>
            <a:off x="660400" y="1841500"/>
            <a:ext cx="5207000" cy="14224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EC52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C02E39A-0F8E-6017-09F8-DFEEEC441B17}"/>
              </a:ext>
            </a:extLst>
          </p:cNvPr>
          <p:cNvSpPr txBox="1"/>
          <p:nvPr/>
        </p:nvSpPr>
        <p:spPr>
          <a:xfrm>
            <a:off x="863600" y="2070100"/>
            <a:ext cx="4699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 b="1">
                <a:solidFill>
                  <a:srgbClr val="EC525B"/>
                </a:solidFill>
                <a:latin typeface="Microsoft YaHei" panose="020B0503020204020204" pitchFamily="34" charset="-122"/>
              </a:rPr>
              <a:t>历史未加护盾会话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8F5FC3B-5E1F-A489-12B1-BDA4DFD0601F}"/>
              </a:ext>
            </a:extLst>
          </p:cNvPr>
          <p:cNvSpPr txBox="1"/>
          <p:nvPr/>
        </p:nvSpPr>
        <p:spPr>
          <a:xfrm>
            <a:off x="863600" y="2501900"/>
            <a:ext cx="4699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>
                <a:solidFill>
                  <a:srgbClr val="EBF4FF"/>
                </a:solidFill>
                <a:latin typeface="Microsoft YaHei" panose="020B0503020204020204" pitchFamily="34" charset="-122"/>
              </a:rPr>
              <a:t>step6 </a:t>
            </a:r>
            <a:r>
              <a:rPr lang="zh-CN" altLang="en-US" sz="1100">
                <a:solidFill>
                  <a:srgbClr val="EBF4FF"/>
                </a:solidFill>
                <a:latin typeface="Microsoft YaHei" panose="020B0503020204020204" pitchFamily="34" charset="-122"/>
              </a:rPr>
              <a:t>出现 </a:t>
            </a:r>
            <a:r>
              <a:rPr lang="en-US" altLang="zh-CN" sz="1100">
                <a:solidFill>
                  <a:srgbClr val="EBF4FF"/>
                </a:solidFill>
                <a:latin typeface="Microsoft YaHei" panose="020B0503020204020204" pitchFamily="34" charset="-122"/>
              </a:rPr>
              <a:t>1 </a:t>
            </a:r>
            <a:r>
              <a:rPr lang="zh-CN" altLang="en-US" sz="1100">
                <a:solidFill>
                  <a:srgbClr val="EBF4FF"/>
                </a:solidFill>
                <a:latin typeface="Microsoft YaHei" panose="020B0503020204020204" pitchFamily="34" charset="-122"/>
              </a:rPr>
              <a:t>次实际故障｜保留为尾部风险样本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60D1873-FF2C-74F3-0199-22169FBD3476}"/>
              </a:ext>
            </a:extLst>
          </p:cNvPr>
          <p:cNvSpPr/>
          <p:nvPr/>
        </p:nvSpPr>
        <p:spPr>
          <a:xfrm>
            <a:off x="6146800" y="1841500"/>
            <a:ext cx="5207000" cy="14224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F09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008CD60-060A-57EB-B391-06E9EDE19260}"/>
              </a:ext>
            </a:extLst>
          </p:cNvPr>
          <p:cNvSpPr txBox="1"/>
          <p:nvPr/>
        </p:nvSpPr>
        <p:spPr>
          <a:xfrm>
            <a:off x="6350000" y="2070100"/>
            <a:ext cx="4699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400" b="1">
                <a:solidFill>
                  <a:srgbClr val="F09C32"/>
                </a:solidFill>
                <a:latin typeface="Microsoft YaHei" panose="020B0503020204020204" pitchFamily="34" charset="-122"/>
              </a:rPr>
              <a:t>TEP </a:t>
            </a:r>
            <a:r>
              <a:rPr lang="zh-CN" altLang="en-US" sz="1400" b="1">
                <a:solidFill>
                  <a:srgbClr val="F09C32"/>
                </a:solidFill>
                <a:latin typeface="Microsoft YaHei" panose="020B0503020204020204" pitchFamily="34" charset="-122"/>
              </a:rPr>
              <a:t>弱故障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61BAAE2-A253-D773-3A45-3614B128A36E}"/>
              </a:ext>
            </a:extLst>
          </p:cNvPr>
          <p:cNvSpPr txBox="1"/>
          <p:nvPr/>
        </p:nvSpPr>
        <p:spPr>
          <a:xfrm>
            <a:off x="6350000" y="2501900"/>
            <a:ext cx="4699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EBF4FF"/>
                </a:solidFill>
                <a:latin typeface="Microsoft YaHei" panose="020B0503020204020204" pitchFamily="34" charset="-122"/>
              </a:rPr>
              <a:t>故障</a:t>
            </a:r>
            <a:r>
              <a:rPr lang="en-US" altLang="zh-CN" sz="1100">
                <a:solidFill>
                  <a:srgbClr val="EBF4FF"/>
                </a:solidFill>
                <a:latin typeface="Microsoft YaHei" panose="020B0503020204020204" pitchFamily="34" charset="-122"/>
              </a:rPr>
              <a:t>5</a:t>
            </a:r>
            <a:r>
              <a:rPr lang="zh-CN" altLang="en-US" sz="1100">
                <a:solidFill>
                  <a:srgbClr val="EBF4FF"/>
                </a:solidFill>
                <a:latin typeface="Microsoft YaHei" panose="020B0503020204020204" pitchFamily="34" charset="-122"/>
              </a:rPr>
              <a:t>检出 </a:t>
            </a:r>
            <a:r>
              <a:rPr lang="en-US" altLang="zh-CN" sz="1100">
                <a:solidFill>
                  <a:srgbClr val="EBF4FF"/>
                </a:solidFill>
                <a:latin typeface="Microsoft YaHei" panose="020B0503020204020204" pitchFamily="34" charset="-122"/>
              </a:rPr>
              <a:t>40%</a:t>
            </a:r>
            <a:r>
              <a:rPr lang="zh-CN" altLang="en-US" sz="1100">
                <a:solidFill>
                  <a:srgbClr val="EBF4FF"/>
                </a:solidFill>
                <a:latin typeface="Microsoft YaHei" panose="020B0503020204020204" pitchFamily="34" charset="-122"/>
              </a:rPr>
              <a:t>｜故障</a:t>
            </a:r>
            <a:r>
              <a:rPr lang="en-US" altLang="zh-CN" sz="1100">
                <a:solidFill>
                  <a:srgbClr val="EBF4FF"/>
                </a:solidFill>
                <a:latin typeface="Microsoft YaHei" panose="020B0503020204020204" pitchFamily="34" charset="-122"/>
              </a:rPr>
              <a:t>21</a:t>
            </a:r>
            <a:r>
              <a:rPr lang="zh-CN" altLang="en-US" sz="1100">
                <a:solidFill>
                  <a:srgbClr val="EBF4FF"/>
                </a:solidFill>
                <a:latin typeface="Microsoft YaHei" panose="020B0503020204020204" pitchFamily="34" charset="-122"/>
              </a:rPr>
              <a:t>检出 </a:t>
            </a:r>
            <a:r>
              <a:rPr lang="en-US" altLang="zh-CN" sz="1100">
                <a:solidFill>
                  <a:srgbClr val="EBF4FF"/>
                </a:solidFill>
                <a:latin typeface="Microsoft YaHei" panose="020B0503020204020204" pitchFamily="34" charset="-122"/>
              </a:rPr>
              <a:t>0%</a:t>
            </a:r>
            <a:endParaRPr lang="zh-CN" altLang="en-US" sz="1100">
              <a:solidFill>
                <a:srgbClr val="EBF4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DFB479A-4264-5D4A-2B10-35D19E6F6E8E}"/>
              </a:ext>
            </a:extLst>
          </p:cNvPr>
          <p:cNvSpPr/>
          <p:nvPr/>
        </p:nvSpPr>
        <p:spPr>
          <a:xfrm>
            <a:off x="660400" y="3556000"/>
            <a:ext cx="5207000" cy="14224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EC52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A40DD52-609F-BB43-1258-FD5C34A9A338}"/>
              </a:ext>
            </a:extLst>
          </p:cNvPr>
          <p:cNvSpPr txBox="1"/>
          <p:nvPr/>
        </p:nvSpPr>
        <p:spPr>
          <a:xfrm>
            <a:off x="863600" y="3784600"/>
            <a:ext cx="4699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 b="1">
                <a:solidFill>
                  <a:srgbClr val="EC525B"/>
                </a:solidFill>
                <a:latin typeface="Microsoft YaHei" panose="020B0503020204020204" pitchFamily="34" charset="-122"/>
              </a:rPr>
              <a:t>监督二分类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7418D03-7137-399F-E7C6-84C210D83BA4}"/>
              </a:ext>
            </a:extLst>
          </p:cNvPr>
          <p:cNvSpPr txBox="1"/>
          <p:nvPr/>
        </p:nvSpPr>
        <p:spPr>
          <a:xfrm>
            <a:off x="863600" y="4216400"/>
            <a:ext cx="4699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EBF4FF"/>
                </a:solidFill>
                <a:latin typeface="Microsoft YaHei" panose="020B0503020204020204" pitchFamily="34" charset="-122"/>
              </a:rPr>
              <a:t>检出 </a:t>
            </a:r>
            <a:r>
              <a:rPr lang="en-US" altLang="zh-CN" sz="1100">
                <a:solidFill>
                  <a:srgbClr val="EBF4FF"/>
                </a:solidFill>
                <a:latin typeface="Microsoft YaHei" panose="020B0503020204020204" pitchFamily="34" charset="-122"/>
              </a:rPr>
              <a:t>99.75%</a:t>
            </a:r>
            <a:r>
              <a:rPr lang="zh-CN" altLang="en-US" sz="1100">
                <a:solidFill>
                  <a:srgbClr val="EBF4FF"/>
                </a:solidFill>
                <a:latin typeface="Microsoft YaHei" panose="020B0503020204020204" pitchFamily="34" charset="-122"/>
              </a:rPr>
              <a:t>｜正常误报 </a:t>
            </a:r>
            <a:r>
              <a:rPr lang="en-US" altLang="zh-CN" sz="1100">
                <a:solidFill>
                  <a:srgbClr val="EBF4FF"/>
                </a:solidFill>
                <a:latin typeface="Microsoft YaHei" panose="020B0503020204020204" pitchFamily="34" charset="-122"/>
              </a:rPr>
              <a:t>99.73%</a:t>
            </a:r>
            <a:r>
              <a:rPr lang="zh-CN" altLang="en-US" sz="1100">
                <a:solidFill>
                  <a:srgbClr val="EBF4FF"/>
                </a:solidFill>
                <a:latin typeface="Microsoft YaHei" panose="020B0503020204020204" pitchFamily="34" charset="-122"/>
              </a:rPr>
              <a:t>｜拒绝生产门控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D304C9E-7974-0A5D-11D9-D2FB094F2A4A}"/>
              </a:ext>
            </a:extLst>
          </p:cNvPr>
          <p:cNvSpPr/>
          <p:nvPr/>
        </p:nvSpPr>
        <p:spPr>
          <a:xfrm>
            <a:off x="6146800" y="3556000"/>
            <a:ext cx="5207000" cy="14224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357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9D0CF97-6DC1-40A7-1DE7-147B7C2F385D}"/>
              </a:ext>
            </a:extLst>
          </p:cNvPr>
          <p:cNvSpPr txBox="1"/>
          <p:nvPr/>
        </p:nvSpPr>
        <p:spPr>
          <a:xfrm>
            <a:off x="6350000" y="3784600"/>
            <a:ext cx="4699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400" b="1">
                <a:solidFill>
                  <a:srgbClr val="3579F6"/>
                </a:solidFill>
                <a:latin typeface="Microsoft YaHei" panose="020B0503020204020204" pitchFamily="34" charset="-122"/>
              </a:rPr>
              <a:t>LSTM </a:t>
            </a:r>
            <a:r>
              <a:rPr lang="zh-CN" altLang="en-US" sz="1400" b="1">
                <a:solidFill>
                  <a:srgbClr val="3579F6"/>
                </a:solidFill>
                <a:latin typeface="Microsoft YaHei" panose="020B0503020204020204" pitchFamily="34" charset="-122"/>
              </a:rPr>
              <a:t>对照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136A9D4-20F4-1091-23CE-ED35DCC653F7}"/>
              </a:ext>
            </a:extLst>
          </p:cNvPr>
          <p:cNvSpPr txBox="1"/>
          <p:nvPr/>
        </p:nvSpPr>
        <p:spPr>
          <a:xfrm>
            <a:off x="6350000" y="4216400"/>
            <a:ext cx="4699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EBF4FF"/>
                </a:solidFill>
                <a:latin typeface="Microsoft YaHei" panose="020B0503020204020204" pitchFamily="34" charset="-122"/>
              </a:rPr>
              <a:t>健康 </a:t>
            </a:r>
            <a:r>
              <a:rPr lang="en-US" altLang="zh-CN" sz="1100">
                <a:solidFill>
                  <a:srgbClr val="EBF4FF"/>
                </a:solidFill>
                <a:latin typeface="Microsoft YaHei" panose="020B0503020204020204" pitchFamily="34" charset="-122"/>
              </a:rPr>
              <a:t>RMSE 0.0280</a:t>
            </a:r>
            <a:r>
              <a:rPr lang="zh-CN" altLang="en-US" sz="1100">
                <a:solidFill>
                  <a:srgbClr val="EBF4FF"/>
                </a:solidFill>
                <a:latin typeface="Microsoft YaHei" panose="020B0503020204020204" pitchFamily="34" charset="-122"/>
              </a:rPr>
              <a:t>｜差于生产 </a:t>
            </a:r>
            <a:r>
              <a:rPr lang="en-US" altLang="zh-CN" sz="1100">
                <a:solidFill>
                  <a:srgbClr val="EBF4FF"/>
                </a:solidFill>
                <a:latin typeface="Microsoft YaHei" panose="020B0503020204020204" pitchFamily="34" charset="-122"/>
              </a:rPr>
              <a:t>MLP 0.0191</a:t>
            </a:r>
            <a:endParaRPr lang="zh-CN" altLang="en-US" sz="1100">
              <a:solidFill>
                <a:srgbClr val="EBF4F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4127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circle/>
      </p:transition>
    </mc:Choice>
    <mc:Fallback xmlns=""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nimBg="1" autoUpdateAnimBg="0"/>
      <p:bldP spid="8" grpId="0" autoUpdateAnimBg="0"/>
      <p:bldP spid="9" grpId="0" animBg="1" autoUpdateAnimBg="0"/>
      <p:bldP spid="11" grpId="0" autoUpdateAnimBg="0"/>
      <p:bldP spid="12" grpId="0" animBg="1" autoUpdateAnimBg="0"/>
      <p:bldP spid="14" grpId="0" autoUpdateAnimBg="0"/>
      <p:bldP spid="15" grpId="0" animBg="1" autoUpdateAnimBg="0"/>
      <p:bldP spid="17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5B7D841-C746-64FC-4971-AABE7F47BE5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417F5B3-D92A-FCE5-44F0-2BAA0BD685DC}"/>
              </a:ext>
            </a:extLst>
          </p:cNvPr>
          <p:cNvSpPr txBox="1"/>
          <p:nvPr/>
        </p:nvSpPr>
        <p:spPr>
          <a:xfrm>
            <a:off x="660400" y="508000"/>
            <a:ext cx="6350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600" b="1">
                <a:solidFill>
                  <a:srgbClr val="EBF4FF"/>
                </a:solidFill>
                <a:latin typeface="Microsoft YaHei" panose="020B0503020204020204" pitchFamily="34" charset="-122"/>
              </a:rPr>
              <a:t>评分证据映射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0C3450C-31D8-8DC0-C290-5214ADC77063}"/>
              </a:ext>
            </a:extLst>
          </p:cNvPr>
          <p:cNvSpPr txBox="1"/>
          <p:nvPr/>
        </p:nvSpPr>
        <p:spPr>
          <a:xfrm>
            <a:off x="685800" y="1117600"/>
            <a:ext cx="8255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91ACCB"/>
                </a:solidFill>
                <a:latin typeface="Microsoft YaHei" panose="020B0503020204020204" pitchFamily="34" charset="-122"/>
              </a:rPr>
              <a:t>不是堆功能，而是每一项都有可核验证据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C10F1E6-07F1-F3C5-7084-F5DF0AF707E6}"/>
              </a:ext>
            </a:extLst>
          </p:cNvPr>
          <p:cNvSpPr/>
          <p:nvPr/>
        </p:nvSpPr>
        <p:spPr>
          <a:xfrm>
            <a:off x="685800" y="1714500"/>
            <a:ext cx="10795000" cy="5842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14B9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18E733-817D-8CB5-8BD7-6FC60FDFA6AB}"/>
              </a:ext>
            </a:extLst>
          </p:cNvPr>
          <p:cNvSpPr txBox="1"/>
          <p:nvPr/>
        </p:nvSpPr>
        <p:spPr>
          <a:xfrm>
            <a:off x="889000" y="1866900"/>
            <a:ext cx="1041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问题价值 </a:t>
            </a:r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20%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｜工业维护 </a:t>
            </a:r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安全审批 </a:t>
            </a:r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可追溯执行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FDA7769-ADB1-CACE-AA5C-6F74F164AEE7}"/>
              </a:ext>
            </a:extLst>
          </p:cNvPr>
          <p:cNvSpPr/>
          <p:nvPr/>
        </p:nvSpPr>
        <p:spPr>
          <a:xfrm>
            <a:off x="685800" y="2451100"/>
            <a:ext cx="10795000" cy="5842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14B9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220CC50-A25C-C8E4-4DD6-0C2FAE161E77}"/>
              </a:ext>
            </a:extLst>
          </p:cNvPr>
          <p:cNvSpPr txBox="1"/>
          <p:nvPr/>
        </p:nvSpPr>
        <p:spPr>
          <a:xfrm>
            <a:off x="889000" y="2603500"/>
            <a:ext cx="1041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任务完成 </a:t>
            </a:r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25%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｜</a:t>
            </a:r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12/12 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真实工单 </a:t>
            </a:r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+ completed=true</a:t>
            </a:r>
            <a:endParaRPr lang="zh-CN" altLang="en-US" sz="1100" b="1">
              <a:solidFill>
                <a:srgbClr val="EBF4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9CEF796-0D3F-DF3C-665F-21E7969A9E97}"/>
              </a:ext>
            </a:extLst>
          </p:cNvPr>
          <p:cNvSpPr/>
          <p:nvPr/>
        </p:nvSpPr>
        <p:spPr>
          <a:xfrm>
            <a:off x="685800" y="3187700"/>
            <a:ext cx="10795000" cy="5842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18C4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B998DFA-5150-55AA-8B8F-606178FAB37A}"/>
              </a:ext>
            </a:extLst>
          </p:cNvPr>
          <p:cNvSpPr txBox="1"/>
          <p:nvPr/>
        </p:nvSpPr>
        <p:spPr>
          <a:xfrm>
            <a:off x="889000" y="3340100"/>
            <a:ext cx="1041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AGH 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闭环 </a:t>
            </a:r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20%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｜</a:t>
            </a:r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8 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工具 </a:t>
            </a:r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人工审批 </a:t>
            </a:r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+ 41 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事件 </a:t>
            </a:r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Trace</a:t>
            </a:r>
            <a:endParaRPr lang="zh-CN" altLang="en-US" sz="1100" b="1">
              <a:solidFill>
                <a:srgbClr val="EBF4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976BF09-B424-0041-B2CD-44EBACEF10C3}"/>
              </a:ext>
            </a:extLst>
          </p:cNvPr>
          <p:cNvSpPr/>
          <p:nvPr/>
        </p:nvSpPr>
        <p:spPr>
          <a:xfrm>
            <a:off x="685800" y="3924300"/>
            <a:ext cx="10795000" cy="5842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18C4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F039725-CA90-35DB-5C84-0AC925632F4E}"/>
              </a:ext>
            </a:extLst>
          </p:cNvPr>
          <p:cNvSpPr txBox="1"/>
          <p:nvPr/>
        </p:nvSpPr>
        <p:spPr>
          <a:xfrm>
            <a:off x="889000" y="4076700"/>
            <a:ext cx="1041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技术深度 </a:t>
            </a:r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10%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｜世界模型 </a:t>
            </a:r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稳健规划 </a:t>
            </a:r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安全护盾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0475CE8-0EC3-35FD-60B0-9D916650C27D}"/>
              </a:ext>
            </a:extLst>
          </p:cNvPr>
          <p:cNvSpPr/>
          <p:nvPr/>
        </p:nvSpPr>
        <p:spPr>
          <a:xfrm>
            <a:off x="685800" y="4660900"/>
            <a:ext cx="10795000" cy="5842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F09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EFA1905-6978-D73C-FE7A-185AE3663D47}"/>
              </a:ext>
            </a:extLst>
          </p:cNvPr>
          <p:cNvSpPr txBox="1"/>
          <p:nvPr/>
        </p:nvSpPr>
        <p:spPr>
          <a:xfrm>
            <a:off x="889000" y="4813300"/>
            <a:ext cx="1041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验证严谨 </a:t>
            </a:r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10%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｜</a:t>
            </a:r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C-MAPSS + TEP + 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负面结果保留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326B48A-30C4-7D12-3B8A-390A6EB57D84}"/>
              </a:ext>
            </a:extLst>
          </p:cNvPr>
          <p:cNvSpPr/>
          <p:nvPr/>
        </p:nvSpPr>
        <p:spPr>
          <a:xfrm>
            <a:off x="685800" y="5397500"/>
            <a:ext cx="10795000" cy="5842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F09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8BDEED8-E5AF-2777-43D7-033949B14DE0}"/>
              </a:ext>
            </a:extLst>
          </p:cNvPr>
          <p:cNvSpPr txBox="1"/>
          <p:nvPr/>
        </p:nvSpPr>
        <p:spPr>
          <a:xfrm>
            <a:off x="889000" y="5549900"/>
            <a:ext cx="1041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创新价值 </a:t>
            </a:r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15%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｜世界模型 </a:t>
            </a:r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× </a:t>
            </a:r>
            <a:r>
              <a:rPr lang="zh-CN" altLang="en-US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高保真验证 </a:t>
            </a:r>
            <a:r>
              <a:rPr lang="en-US" altLang="zh-CN" sz="1100" b="1">
                <a:solidFill>
                  <a:srgbClr val="EBF4FF"/>
                </a:solidFill>
                <a:latin typeface="Microsoft YaHei" panose="020B0503020204020204" pitchFamily="34" charset="-122"/>
              </a:rPr>
              <a:t>× AGH Trace</a:t>
            </a:r>
            <a:endParaRPr lang="zh-CN" altLang="en-US" sz="1100" b="1">
              <a:solidFill>
                <a:srgbClr val="EBF4F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4878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circle/>
      </p:transition>
    </mc:Choice>
    <mc:Fallback xmlns=""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nimBg="1" autoUpdateAnimBg="0"/>
      <p:bldP spid="7" grpId="0" autoUpdateAnimBg="0"/>
      <p:bldP spid="8" grpId="0" animBg="1" autoUpdateAnimBg="0"/>
      <p:bldP spid="9" grpId="0" autoUpdateAnimBg="0"/>
      <p:bldP spid="10" grpId="0" animBg="1" autoUpdateAnimBg="0"/>
      <p:bldP spid="11" grpId="0" autoUpdateAnimBg="0"/>
      <p:bldP spid="12" grpId="0" animBg="1" autoUpdateAnimBg="0"/>
      <p:bldP spid="13" grpId="0" autoUpdateAnimBg="0"/>
      <p:bldP spid="14" grpId="0" animBg="1" autoUpdateAnimBg="0"/>
      <p:bldP spid="15" grpId="0" autoUpdateAnimBg="0"/>
      <p:bldP spid="16" grpId="0" animBg="1" autoUpdateAnimBg="0"/>
      <p:bldP spid="17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E754409-9434-1FAE-A145-5FF554CB7F1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581A5C0-381E-91DE-EA7D-608B935C0CBB}"/>
              </a:ext>
            </a:extLst>
          </p:cNvPr>
          <p:cNvSpPr txBox="1"/>
          <p:nvPr/>
        </p:nvSpPr>
        <p:spPr>
          <a:xfrm>
            <a:off x="660400" y="508000"/>
            <a:ext cx="6350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600" b="1">
                <a:solidFill>
                  <a:srgbClr val="EBF4FF"/>
                </a:solidFill>
                <a:latin typeface="Microsoft YaHei" panose="020B0503020204020204" pitchFamily="34" charset="-122"/>
              </a:rPr>
              <a:t>边界与范围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2AECFA-19DC-F528-A032-D635FB5DEE58}"/>
              </a:ext>
            </a:extLst>
          </p:cNvPr>
          <p:cNvSpPr txBox="1"/>
          <p:nvPr/>
        </p:nvSpPr>
        <p:spPr>
          <a:xfrm>
            <a:off x="685800" y="1117600"/>
            <a:ext cx="762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91ACCB"/>
                </a:solidFill>
                <a:latin typeface="Microsoft YaHei" panose="020B0503020204020204" pitchFamily="34" charset="-122"/>
              </a:rPr>
              <a:t>诚实说明仿真与现场的距离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58CD481-49EF-EB59-61EB-02D3FD6C27E8}"/>
              </a:ext>
            </a:extLst>
          </p:cNvPr>
          <p:cNvSpPr/>
          <p:nvPr/>
        </p:nvSpPr>
        <p:spPr>
          <a:xfrm>
            <a:off x="685800" y="1841500"/>
            <a:ext cx="5334000" cy="38100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14B9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9CFEE0B-7877-4DB1-6595-611BD18D205F}"/>
              </a:ext>
            </a:extLst>
          </p:cNvPr>
          <p:cNvSpPr txBox="1"/>
          <p:nvPr/>
        </p:nvSpPr>
        <p:spPr>
          <a:xfrm>
            <a:off x="914400" y="2095500"/>
            <a:ext cx="4572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14B978"/>
                </a:solidFill>
                <a:latin typeface="Microsoft YaHei" panose="020B0503020204020204" pitchFamily="34" charset="-122"/>
              </a:rPr>
              <a:t>已经证明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6B940B4-9389-924F-43D5-0E4FFB21DF59}"/>
              </a:ext>
            </a:extLst>
          </p:cNvPr>
          <p:cNvSpPr txBox="1"/>
          <p:nvPr/>
        </p:nvSpPr>
        <p:spPr>
          <a:xfrm>
            <a:off x="914400" y="2667000"/>
            <a:ext cx="4572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200">
                <a:solidFill>
                  <a:srgbClr val="EBF4FF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EBF4FF"/>
                </a:solidFill>
                <a:latin typeface="Microsoft YaHei" panose="020B0503020204020204" pitchFamily="34" charset="-122"/>
              </a:rPr>
              <a:t>真实 </a:t>
            </a:r>
            <a:r>
              <a:rPr lang="en-US" altLang="zh-CN" sz="1200">
                <a:solidFill>
                  <a:srgbClr val="EBF4FF"/>
                </a:solidFill>
                <a:latin typeface="Microsoft YaHei" panose="020B0503020204020204" pitchFamily="34" charset="-122"/>
              </a:rPr>
              <a:t>AGH </a:t>
            </a:r>
            <a:r>
              <a:rPr lang="zh-CN" altLang="en-US" sz="1200">
                <a:solidFill>
                  <a:srgbClr val="EBF4FF"/>
                </a:solidFill>
                <a:latin typeface="Microsoft YaHei" panose="020B0503020204020204" pitchFamily="34" charset="-122"/>
              </a:rPr>
              <a:t>会话完整执行 </a:t>
            </a:r>
            <a:r>
              <a:rPr lang="en-US" altLang="zh-CN" sz="1200">
                <a:solidFill>
                  <a:srgbClr val="EBF4FF"/>
                </a:solidFill>
                <a:latin typeface="Microsoft YaHei" panose="020B0503020204020204" pitchFamily="34" charset="-122"/>
              </a:rPr>
              <a:t>12 </a:t>
            </a:r>
            <a:r>
              <a:rPr lang="zh-CN" altLang="en-US" sz="1200">
                <a:solidFill>
                  <a:srgbClr val="EBF4FF"/>
                </a:solidFill>
                <a:latin typeface="Microsoft YaHei" panose="020B0503020204020204" pitchFamily="34" charset="-122"/>
              </a:rPr>
              <a:t>步
</a:t>
            </a:r>
            <a:r>
              <a:rPr lang="en-US" altLang="zh-CN" sz="1200">
                <a:solidFill>
                  <a:srgbClr val="EBF4FF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EBF4FF"/>
                </a:solidFill>
                <a:latin typeface="Microsoft YaHei" panose="020B0503020204020204" pitchFamily="34" charset="-122"/>
              </a:rPr>
              <a:t>审批门、顺序执行和 </a:t>
            </a:r>
            <a:r>
              <a:rPr lang="en-US" altLang="zh-CN" sz="1200">
                <a:solidFill>
                  <a:srgbClr val="EBF4FF"/>
                </a:solidFill>
                <a:latin typeface="Microsoft YaHei" panose="020B0503020204020204" pitchFamily="34" charset="-122"/>
              </a:rPr>
              <a:t>Trace </a:t>
            </a:r>
            <a:r>
              <a:rPr lang="zh-CN" altLang="en-US" sz="1200">
                <a:solidFill>
                  <a:srgbClr val="EBF4FF"/>
                </a:solidFill>
                <a:latin typeface="Microsoft YaHei" panose="020B0503020204020204" pitchFamily="34" charset="-122"/>
              </a:rPr>
              <a:t>可复核
</a:t>
            </a:r>
            <a:r>
              <a:rPr lang="en-US" altLang="zh-CN" sz="1200">
                <a:solidFill>
                  <a:srgbClr val="EBF4FF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EBF4FF"/>
                </a:solidFill>
                <a:latin typeface="Microsoft YaHei" panose="020B0503020204020204" pitchFamily="34" charset="-122"/>
              </a:rPr>
              <a:t>公开数据与协议契约验证通过
</a:t>
            </a:r>
            <a:r>
              <a:rPr lang="en-US" altLang="zh-CN" sz="1200">
                <a:solidFill>
                  <a:srgbClr val="EBF4FF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EBF4FF"/>
                </a:solidFill>
                <a:latin typeface="Microsoft YaHei" panose="020B0503020204020204" pitchFamily="34" charset="-122"/>
              </a:rPr>
              <a:t>失败结果和负面结果完整保留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24D9233-D040-971F-1622-71698CAF262A}"/>
              </a:ext>
            </a:extLst>
          </p:cNvPr>
          <p:cNvSpPr/>
          <p:nvPr/>
        </p:nvSpPr>
        <p:spPr>
          <a:xfrm>
            <a:off x="6350000" y="1841500"/>
            <a:ext cx="5207000" cy="3810000"/>
          </a:xfrm>
          <a:prstGeom prst="roundRect">
            <a:avLst/>
          </a:prstGeom>
          <a:solidFill>
            <a:srgbClr val="0A1C32"/>
          </a:solidFill>
          <a:ln w="15240">
            <a:solidFill>
              <a:srgbClr val="F09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5DBB4A7-9B8A-EA47-32B8-7B9CAC682229}"/>
              </a:ext>
            </a:extLst>
          </p:cNvPr>
          <p:cNvSpPr txBox="1"/>
          <p:nvPr/>
        </p:nvSpPr>
        <p:spPr>
          <a:xfrm>
            <a:off x="6578600" y="2095500"/>
            <a:ext cx="4445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F09C32"/>
                </a:solidFill>
                <a:latin typeface="Microsoft YaHei" panose="020B0503020204020204" pitchFamily="34" charset="-122"/>
              </a:rPr>
              <a:t>本次范围外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2926C8F-8CD6-9B95-57EE-35BBCB93B734}"/>
              </a:ext>
            </a:extLst>
          </p:cNvPr>
          <p:cNvSpPr txBox="1"/>
          <p:nvPr/>
        </p:nvSpPr>
        <p:spPr>
          <a:xfrm>
            <a:off x="6578600" y="2667000"/>
            <a:ext cx="44450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200">
                <a:solidFill>
                  <a:srgbClr val="EBF4FF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EBF4FF"/>
                </a:solidFill>
                <a:latin typeface="Microsoft YaHei" panose="020B0503020204020204" pitchFamily="34" charset="-122"/>
              </a:rPr>
              <a:t>主环境是独立数字孪生
</a:t>
            </a:r>
            <a:r>
              <a:rPr lang="en-US" altLang="zh-CN" sz="1200">
                <a:solidFill>
                  <a:srgbClr val="EBF4FF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EBF4FF"/>
                </a:solidFill>
                <a:latin typeface="Microsoft YaHei" panose="020B0503020204020204" pitchFamily="34" charset="-122"/>
              </a:rPr>
              <a:t>虚拟 </a:t>
            </a:r>
            <a:r>
              <a:rPr lang="en-US" altLang="zh-CN" sz="1200">
                <a:solidFill>
                  <a:srgbClr val="EBF4FF"/>
                </a:solidFill>
                <a:latin typeface="Microsoft YaHei" panose="020B0503020204020204" pitchFamily="34" charset="-122"/>
              </a:rPr>
              <a:t>Modbus </a:t>
            </a:r>
            <a:r>
              <a:rPr lang="zh-CN" altLang="en-US" sz="1200">
                <a:solidFill>
                  <a:srgbClr val="EBF4FF"/>
                </a:solidFill>
                <a:latin typeface="Microsoft YaHei" panose="020B0503020204020204" pitchFamily="34" charset="-122"/>
              </a:rPr>
              <a:t>不是现场 </a:t>
            </a:r>
            <a:r>
              <a:rPr lang="en-US" altLang="zh-CN" sz="1200">
                <a:solidFill>
                  <a:srgbClr val="EBF4FF"/>
                </a:solidFill>
                <a:latin typeface="Microsoft YaHei" panose="020B0503020204020204" pitchFamily="34" charset="-122"/>
              </a:rPr>
              <a:t>PLC/DCS
• TEP </a:t>
            </a:r>
            <a:r>
              <a:rPr lang="zh-CN" altLang="en-US" sz="1200">
                <a:solidFill>
                  <a:srgbClr val="EBF4FF"/>
                </a:solidFill>
                <a:latin typeface="Microsoft YaHei" panose="020B0503020204020204" pitchFamily="34" charset="-122"/>
              </a:rPr>
              <a:t>是公开过程仿真
</a:t>
            </a:r>
            <a:r>
              <a:rPr lang="en-US" altLang="zh-CN" sz="1200">
                <a:solidFill>
                  <a:srgbClr val="EBF4FF"/>
                </a:solidFill>
                <a:latin typeface="Microsoft YaHei" panose="020B0503020204020204" pitchFamily="34" charset="-122"/>
              </a:rPr>
              <a:t>• DAYPSCI </a:t>
            </a:r>
            <a:r>
              <a:rPr lang="zh-CN" altLang="en-US" sz="1200">
                <a:solidFill>
                  <a:srgbClr val="EBF4FF"/>
                </a:solidFill>
                <a:latin typeface="Microsoft YaHei" panose="020B0503020204020204" pitchFamily="34" charset="-122"/>
              </a:rPr>
              <a:t>不在本次范围
</a:t>
            </a:r>
            <a:r>
              <a:rPr lang="en-US" altLang="zh-CN" sz="1200">
                <a:solidFill>
                  <a:srgbClr val="EBF4FF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EBF4FF"/>
                </a:solidFill>
                <a:latin typeface="Microsoft YaHei" panose="020B0503020204020204" pitchFamily="34" charset="-122"/>
              </a:rPr>
              <a:t>本次范围不包含现场 </a:t>
            </a:r>
            <a:r>
              <a:rPr lang="en-US" altLang="zh-CN" sz="1200">
                <a:solidFill>
                  <a:srgbClr val="EBF4FF"/>
                </a:solidFill>
                <a:latin typeface="Microsoft YaHei" panose="020B0503020204020204" pitchFamily="34" charset="-122"/>
              </a:rPr>
              <a:t>PLC/DCS </a:t>
            </a:r>
            <a:r>
              <a:rPr lang="zh-CN" altLang="en-US" sz="1200">
                <a:solidFill>
                  <a:srgbClr val="EBF4FF"/>
                </a:solidFill>
                <a:latin typeface="Microsoft YaHei" panose="020B0503020204020204" pitchFamily="34" charset="-122"/>
              </a:rPr>
              <a:t>真机</a:t>
            </a:r>
          </a:p>
        </p:txBody>
      </p:sp>
    </p:spTree>
    <p:extLst>
      <p:ext uri="{BB962C8B-B14F-4D97-AF65-F5344CB8AC3E}">
        <p14:creationId xmlns:p14="http://schemas.microsoft.com/office/powerpoint/2010/main" val="4220647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circle/>
      </p:transition>
    </mc:Choice>
    <mc:Fallback xmlns=""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nimBg="1" autoUpdateAnimBg="0"/>
      <p:bldP spid="8" grpId="0" autoUpdateAnimBg="0"/>
      <p:bldP spid="9" grpId="0" animBg="1" autoUpdateAnimBg="0"/>
      <p:bldP spid="11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9EAEDC8-7428-B74E-F2C0-5AECC951ADE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F2CEFFD-3415-5318-961C-9484D4FE51B8}"/>
              </a:ext>
            </a:extLst>
          </p:cNvPr>
          <p:cNvSpPr txBox="1"/>
          <p:nvPr/>
        </p:nvSpPr>
        <p:spPr>
          <a:xfrm>
            <a:off x="660400" y="889000"/>
            <a:ext cx="3810000" cy="7386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4200" b="1">
                <a:solidFill>
                  <a:srgbClr val="14B978"/>
                </a:solidFill>
                <a:latin typeface="Microsoft YaHei" panose="020B0503020204020204" pitchFamily="34" charset="-122"/>
              </a:rPr>
              <a:t>12/12</a:t>
            </a:r>
            <a:endParaRPr lang="zh-CN" altLang="en-US" sz="4200" b="1">
              <a:solidFill>
                <a:srgbClr val="14B9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F8782D-2DF0-2EC6-0307-9C41E34FFF5E}"/>
              </a:ext>
            </a:extLst>
          </p:cNvPr>
          <p:cNvSpPr txBox="1"/>
          <p:nvPr/>
        </p:nvSpPr>
        <p:spPr>
          <a:xfrm>
            <a:off x="698500" y="2095500"/>
            <a:ext cx="7112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000" b="1">
                <a:solidFill>
                  <a:srgbClr val="EBF4FF"/>
                </a:solidFill>
                <a:latin typeface="Microsoft YaHei" panose="020B0503020204020204" pitchFamily="34" charset="-122"/>
              </a:rPr>
              <a:t>0 </a:t>
            </a:r>
            <a:r>
              <a:rPr lang="zh-CN" altLang="en-US" sz="2000" b="1">
                <a:solidFill>
                  <a:srgbClr val="EBF4FF"/>
                </a:solidFill>
                <a:latin typeface="Microsoft YaHei" panose="020B0503020204020204" pitchFamily="34" charset="-122"/>
              </a:rPr>
              <a:t>故障 </a:t>
            </a:r>
            <a:r>
              <a:rPr lang="en-US" altLang="zh-CN" sz="2000" b="1">
                <a:solidFill>
                  <a:srgbClr val="EBF4FF"/>
                </a:solidFill>
                <a:latin typeface="Microsoft YaHei" panose="020B0503020204020204" pitchFamily="34" charset="-122"/>
              </a:rPr>
              <a:t>· Trace valid=true</a:t>
            </a:r>
            <a:endParaRPr lang="zh-CN" altLang="en-US" sz="2000" b="1">
              <a:solidFill>
                <a:srgbClr val="EBF4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46D1146-79A3-7E20-F523-7A616578AFB2}"/>
              </a:ext>
            </a:extLst>
          </p:cNvPr>
          <p:cNvSpPr txBox="1"/>
          <p:nvPr/>
        </p:nvSpPr>
        <p:spPr>
          <a:xfrm>
            <a:off x="698500" y="2857500"/>
            <a:ext cx="8128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>
                <a:solidFill>
                  <a:srgbClr val="91ACCB"/>
                </a:solidFill>
                <a:latin typeface="Microsoft YaHei" panose="020B0503020204020204" pitchFamily="34" charset="-122"/>
              </a:rPr>
              <a:t>世界模型 </a:t>
            </a:r>
            <a:r>
              <a:rPr lang="en-US" altLang="zh-CN" sz="1400">
                <a:solidFill>
                  <a:srgbClr val="91ACCB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400">
                <a:solidFill>
                  <a:srgbClr val="91ACCB"/>
                </a:solidFill>
                <a:latin typeface="Microsoft YaHei" panose="020B0503020204020204" pitchFamily="34" charset="-122"/>
              </a:rPr>
              <a:t>高保真验证 </a:t>
            </a:r>
            <a:r>
              <a:rPr lang="en-US" altLang="zh-CN" sz="1400">
                <a:solidFill>
                  <a:srgbClr val="91ACCB"/>
                </a:solidFill>
                <a:latin typeface="Microsoft YaHei" panose="020B0503020204020204" pitchFamily="34" charset="-122"/>
              </a:rPr>
              <a:t>+ AGH </a:t>
            </a:r>
            <a:r>
              <a:rPr lang="zh-CN" altLang="en-US" sz="1400">
                <a:solidFill>
                  <a:srgbClr val="91ACCB"/>
                </a:solidFill>
                <a:latin typeface="Microsoft YaHei" panose="020B0503020204020204" pitchFamily="34" charset="-122"/>
              </a:rPr>
              <a:t>人工审批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9CF90C6-F781-D09E-EEFA-947FDD7FC376}"/>
              </a:ext>
            </a:extLst>
          </p:cNvPr>
          <p:cNvSpPr txBox="1"/>
          <p:nvPr/>
        </p:nvSpPr>
        <p:spPr>
          <a:xfrm>
            <a:off x="698500" y="4191000"/>
            <a:ext cx="6350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800" b="1">
                <a:solidFill>
                  <a:srgbClr val="18C4E8"/>
                </a:solidFill>
                <a:latin typeface="Microsoft YaHei" panose="020B0503020204020204" pitchFamily="34" charset="-122"/>
              </a:rPr>
              <a:t>谢谢观看｜欢迎提问</a:t>
            </a:r>
          </a:p>
        </p:txBody>
      </p:sp>
    </p:spTree>
    <p:extLst>
      <p:ext uri="{BB962C8B-B14F-4D97-AF65-F5344CB8AC3E}">
        <p14:creationId xmlns:p14="http://schemas.microsoft.com/office/powerpoint/2010/main" val="481314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utoUpdateAnimBg="0"/>
      <p:bldP spid="7" grpId="0" autoUpdateAnimBg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727</Words>
  <Application>Microsoft Office PowerPoint</Application>
  <PresentationFormat>宽屏</PresentationFormat>
  <Paragraphs>54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子轩 张</dc:creator>
  <cp:lastModifiedBy>子轩 张</cp:lastModifiedBy>
  <cp:revision>2</cp:revision>
  <dcterms:created xsi:type="dcterms:W3CDTF">2026-10-09T03:41:03Z</dcterms:created>
  <dcterms:modified xsi:type="dcterms:W3CDTF">2026-10-09T06:59:57Z</dcterms:modified>
</cp:coreProperties>
</file>
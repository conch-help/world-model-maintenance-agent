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public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13B"/>
                </a:solidFill>
                <a:latin typeface="Microsoft YaHei"/>
              </a:rPr>
              <a:t>问题与方案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07086"/>
                </a:solidFill>
                <a:latin typeface="Microsoft YaHei"/>
              </a:rPr>
              <a:t>三个冲突目标：不过度维护、不等待故障、关键动作不擅自执行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0213B"/>
                </a:solidFill>
                <a:latin typeface="Microsoft YaHei"/>
              </a:defRPr>
            </a:pPr>
            <a:r>
              <a:t>• 维护太早：停机和维护成本上升；维护太晚：故障与需求损失上升。</a:t>
            </a:r>
          </a:p>
          <a:p>
            <a:pPr>
              <a:spcAft>
                <a:spcPts val="1000"/>
              </a:spcAft>
              <a:defRPr sz="2200">
                <a:solidFill>
                  <a:srgbClr val="10213B"/>
                </a:solidFill>
                <a:latin typeface="Microsoft YaHei"/>
              </a:defRPr>
            </a:pPr>
            <a:r>
              <a:t>• 模型如果直接控制设备：安全、责任和合规风险不可接受。</a:t>
            </a:r>
          </a:p>
          <a:p>
            <a:pPr>
              <a:spcAft>
                <a:spcPts val="1000"/>
              </a:spcAft>
              <a:defRPr sz="2200">
                <a:solidFill>
                  <a:srgbClr val="10213B"/>
                </a:solidFill>
                <a:latin typeface="Microsoft YaHei"/>
              </a:defRPr>
            </a:pPr>
            <a:r>
              <a:t>• 本项目把预测、验证、审批、执行和 Trace 串成一条可审计闭环。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13B"/>
                </a:solidFill>
                <a:latin typeface="Microsoft YaHei"/>
              </a:rPr>
              <a:t>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07086"/>
                </a:solidFill>
                <a:latin typeface="Microsoft YaHei"/>
              </a:rPr>
              <a:t>从设备状态到哈希链 Trace 的完整闭环</a:t>
            </a:r>
          </a:p>
        </p:txBody>
      </p:sp>
      <p:pic>
        <p:nvPicPr>
          <p:cNvPr id="4" name="Picture 3" descr="0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155680" cy="62750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13B"/>
                </a:solidFill>
                <a:latin typeface="Microsoft YaHei"/>
              </a:rPr>
              <a:t>AGH 工具链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07086"/>
                </a:solidFill>
                <a:latin typeface="Microsoft YaHei"/>
              </a:rPr>
              <a:t>8 个 MCP 工具，关键动作必须验证 + 审批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0213B"/>
                </a:solidFill>
                <a:latin typeface="Microsoft YaHei"/>
              </a:defRPr>
            </a:pPr>
            <a:r>
              <a:t>• plant_read_state：读取设备状态</a:t>
            </a:r>
          </a:p>
          <a:p>
            <a:pPr>
              <a:spcAft>
                <a:spcPts val="1000"/>
              </a:spcAft>
              <a:defRPr sz="1900">
                <a:solidFill>
                  <a:srgbClr val="10213B"/>
                </a:solidFill>
                <a:latin typeface="Microsoft YaHei"/>
              </a:defRPr>
            </a:pPr>
            <a:r>
              <a:t>• world_model_plan：生成 12 小时维护与生产计划</a:t>
            </a:r>
          </a:p>
          <a:p>
            <a:pPr>
              <a:spcAft>
                <a:spcPts val="1000"/>
              </a:spcAft>
              <a:defRPr sz="1900">
                <a:solidFill>
                  <a:srgbClr val="10213B"/>
                </a:solidFill>
                <a:latin typeface="Microsoft YaHei"/>
              </a:defRPr>
            </a:pPr>
            <a:r>
              <a:t>• highfidelity_verify：32 场景独立验证、CVaR10/P90/P95</a:t>
            </a:r>
          </a:p>
          <a:p>
            <a:pPr>
              <a:spcAft>
                <a:spcPts val="1000"/>
              </a:spcAft>
              <a:defRPr sz="1900">
                <a:solidFill>
                  <a:srgbClr val="10213B"/>
                </a:solidFill>
                <a:latin typeface="Microsoft YaHei"/>
              </a:defRPr>
            </a:pPr>
            <a:r>
              <a:t>• execute_verified_plan(approved=true)：一次计划级审批后严格 0→1→…→11</a:t>
            </a:r>
          </a:p>
          <a:p>
            <a:pPr>
              <a:spcAft>
                <a:spcPts val="1000"/>
              </a:spcAft>
              <a:defRPr sz="1900">
                <a:solidFill>
                  <a:srgbClr val="10213B"/>
                </a:solidFill>
                <a:latin typeface="Microsoft YaHei"/>
              </a:defRPr>
            </a:pPr>
            <a:r>
              <a:t>• plan_status / calibration_status / trace_export：完成、校准和 Trace 校验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13B"/>
                </a:solidFill>
                <a:latin typeface="Microsoft YaHei"/>
              </a:rPr>
              <a:t>最终真实执行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07086"/>
                </a:solidFill>
                <a:latin typeface="Microsoft YaHei"/>
              </a:rPr>
              <a:t>agnes-3.0-flash，12/12 步，实际故障 0</a:t>
            </a:r>
          </a:p>
        </p:txBody>
      </p:sp>
      <p:pic>
        <p:nvPicPr>
          <p:cNvPr id="4" name="Picture 3" descr="02-final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11155680" cy="62750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13B"/>
                </a:solidFill>
                <a:latin typeface="Microsoft YaHei"/>
              </a:rPr>
              <a:t>外部验证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07086"/>
                </a:solidFill>
                <a:latin typeface="Microsoft YaHei"/>
              </a:rPr>
              <a:t>C-MAPSS、TEP、虚拟 Modbus 和序列模型对照</a:t>
            </a:r>
          </a:p>
        </p:txBody>
      </p:sp>
      <p:pic>
        <p:nvPicPr>
          <p:cNvPr id="4" name="Picture 3" descr="03-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155680" cy="62750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13B"/>
                </a:solidFill>
                <a:latin typeface="Microsoft YaHei"/>
              </a:rPr>
              <a:t>验证严谨性与失败保留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07086"/>
                </a:solidFill>
                <a:latin typeface="Microsoft YaHei"/>
              </a:rPr>
              <a:t>我们保留对项目不利但真实的结果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0213B"/>
                </a:solidFill>
                <a:latin typeface="Microsoft YaHei"/>
              </a:defRPr>
            </a:pPr>
            <a:r>
              <a:t>• 历史未加护盾会话：step6 出现 1 次实际故障，未被删除。</a:t>
            </a:r>
          </a:p>
          <a:p>
            <a:pPr>
              <a:spcAft>
                <a:spcPts val="1000"/>
              </a:spcAft>
              <a:defRPr sz="2100">
                <a:solidFill>
                  <a:srgbClr val="10213B"/>
                </a:solidFill>
                <a:latin typeface="Microsoft YaHei"/>
              </a:defRPr>
            </a:pPr>
            <a:r>
              <a:t>• TEP：故障 5 检出率 40%，故障 21 检出率 0%，保留弱故障边界。</a:t>
            </a:r>
          </a:p>
          <a:p>
            <a:pPr>
              <a:spcAft>
                <a:spcPts val="1000"/>
              </a:spcAft>
              <a:defRPr sz="2100">
                <a:solidFill>
                  <a:srgbClr val="10213B"/>
                </a:solidFill>
                <a:latin typeface="Microsoft YaHei"/>
              </a:defRPr>
            </a:pPr>
            <a:r>
              <a:t>• 监督二分类：故障检出 99.75%，正常误报 99.73%，因此拒绝用于生产门控。</a:t>
            </a:r>
          </a:p>
          <a:p>
            <a:pPr>
              <a:spcAft>
                <a:spcPts val="1000"/>
              </a:spcAft>
              <a:defRPr sz="2100">
                <a:solidFill>
                  <a:srgbClr val="10213B"/>
                </a:solidFill>
                <a:latin typeface="Microsoft YaHei"/>
              </a:defRPr>
            </a:pPr>
            <a:r>
              <a:t>• LSTM 对照：健康 RMSE 0.0280，差于生产集成 MLP 的 0.0191，因此不替换。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13B"/>
                </a:solidFill>
                <a:latin typeface="Microsoft YaHei"/>
              </a:rPr>
              <a:t>创新点与边界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07086"/>
                </a:solidFill>
                <a:latin typeface="Microsoft YaHei"/>
              </a:rPr>
              <a:t>世界模型叙事 + 高保真验证 + AGH 审批与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0213B"/>
                </a:solidFill>
                <a:latin typeface="Microsoft YaHei"/>
              </a:defRPr>
            </a:pPr>
            <a:r>
              <a:t>• 创新：动作条件世界模型、尾部风险规划、安全护盾、顺序审批、哈希链 Trace。</a:t>
            </a:r>
          </a:p>
          <a:p>
            <a:pPr>
              <a:spcAft>
                <a:spcPts val="1000"/>
              </a:spcAft>
              <a:defRPr sz="2000">
                <a:solidFill>
                  <a:srgbClr val="10213B"/>
                </a:solidFill>
                <a:latin typeface="Microsoft YaHei"/>
              </a:defRPr>
            </a:pPr>
            <a:r>
              <a:t>• 工程：真实 AGH 会话、12 个真实工单、41 个 Trace 事件、12/12 测试通过。</a:t>
            </a:r>
          </a:p>
          <a:p>
            <a:pPr>
              <a:spcAft>
                <a:spcPts val="1000"/>
              </a:spcAft>
              <a:defRPr sz="2000">
                <a:solidFill>
                  <a:srgbClr val="10213B"/>
                </a:solidFill>
                <a:latin typeface="Microsoft YaHei"/>
              </a:defRPr>
            </a:pPr>
            <a:r>
              <a:t>• 边界：主环境仍是数字孪生；虚拟 Modbus 不等于现场 PLC；TEP 不是真实 DCS。</a:t>
            </a:r>
          </a:p>
          <a:p>
            <a:pPr>
              <a:spcAft>
                <a:spcPts val="1000"/>
              </a:spcAft>
              <a:defRPr sz="2000">
                <a:solidFill>
                  <a:srgbClr val="10213B"/>
                </a:solidFill>
                <a:latin typeface="Microsoft YaHei"/>
              </a:defRPr>
            </a:pPr>
            <a:r>
              <a:t>• 下一步：授权 PLC/DCS 测试台、现场影子运行和真实工单闭环。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13B"/>
                </a:solidFill>
                <a:latin typeface="Microsoft YaHei"/>
              </a:rPr>
              <a:t>提交材料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07086"/>
                </a:solidFill>
                <a:latin typeface="Microsoft YaHei"/>
              </a:rPr>
              <a:t>代码、证据、视频、公开内容和声明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0213B"/>
                </a:solidFill>
                <a:latin typeface="Microsoft YaHei"/>
              </a:defRPr>
            </a:pPr>
            <a:r>
              <a:t>• 正式包：本科生组-U068-翼智AeroAgent-张子轩.zip</a:t>
            </a:r>
          </a:p>
          <a:p>
            <a:pPr>
              <a:spcAft>
                <a:spcPts val="1000"/>
              </a:spcAft>
              <a:defRPr sz="2000">
                <a:solidFill>
                  <a:srgbClr val="10213B"/>
                </a:solidFill>
                <a:latin typeface="Microsoft YaHei"/>
              </a:defRPr>
            </a:pPr>
            <a:r>
              <a:t>• 公开包：公共安全版.zip（不含原始会话和本地路径）</a:t>
            </a:r>
          </a:p>
          <a:p>
            <a:pPr>
              <a:spcAft>
                <a:spcPts val="1000"/>
              </a:spcAft>
              <a:defRPr sz="2000">
                <a:solidFill>
                  <a:srgbClr val="10213B"/>
                </a:solidFill>
                <a:latin typeface="Microsoft YaHei"/>
              </a:defRPr>
            </a:pPr>
            <a:r>
              <a:t>• 演示：世界模型维护代理-答辩演示.pptx</a:t>
            </a:r>
          </a:p>
          <a:p>
            <a:pPr>
              <a:spcAft>
                <a:spcPts val="1000"/>
              </a:spcAft>
              <a:defRPr sz="2000">
                <a:solidFill>
                  <a:srgbClr val="10213B"/>
                </a:solidFill>
                <a:latin typeface="Microsoft YaHei"/>
              </a:defRPr>
            </a:pPr>
            <a:r>
              <a:t>• 文档：最终验收报告、提交表单、成员声明、公开内容草稿</a:t>
            </a:r>
          </a:p>
          <a:p>
            <a:pPr>
              <a:spcAft>
                <a:spcPts val="1000"/>
              </a:spcAft>
              <a:defRPr sz="2000">
                <a:solidFill>
                  <a:srgbClr val="10213B"/>
                </a:solidFill>
                <a:latin typeface="Microsoft YaHei"/>
              </a:defRPr>
            </a:pPr>
            <a:r>
              <a:t>• 仍需人工：发布公开链接、录制视频、签名、报名系统身份核验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